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4C5CE50-B3D6-470D-837F-809F83624BAD}">
  <a:tblStyle styleId="{E4C5CE50-B3D6-470D-837F-809F83624B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0" y="878234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3068984"/>
            <a:ext cx="11601450" cy="176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NATIONAL SCHOOL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30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 DATA DASHBOARD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286226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7B1FA2"/>
                </a:solidFill>
                <a:latin typeface="Open Sans"/>
                <a:ea typeface="Open Sans"/>
                <a:cs typeface="Open Sans"/>
                <a:sym typeface="Open Sans"/>
              </a:rPr>
              <a:t>A Comprehensive Analysis of Student Demographics and Staffing Metrics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43500" y="878234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1168" y="1609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45543" y="23241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WORKFORCE SECTOR DISTRIBUTION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3244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The workforce is heavily concentrated in the Government sector, representing nearly two-thirds of the total national educational staff.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384256" y="2714625"/>
            <a:ext cx="3076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Government:</a:t>
            </a: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63.15% (3.06M)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384256" y="3162300"/>
            <a:ext cx="3076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Catholic:</a:t>
            </a: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18.56% (0.9M)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384256" y="3609975"/>
            <a:ext cx="30765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Independent:</a:t>
            </a: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18.29% (0.89M)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2950368" y="2938462"/>
            <a:ext cx="8953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4A148C"/>
                </a:solidFill>
                <a:latin typeface="Open Sans"/>
                <a:ea typeface="Open Sans"/>
                <a:cs typeface="Open Sans"/>
                <a:sym typeface="Open Sans"/>
              </a:rPr>
              <a:t>100%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3031331" y="3405187"/>
            <a:ext cx="7334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Open Sans"/>
                <a:ea typeface="Open Sans"/>
                <a:cs typeface="Open Sans"/>
                <a:sym typeface="Open Sans"/>
              </a:rPr>
              <a:t>Total Staff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384256" y="271462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4A14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7384256" y="3162300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BA68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384256" y="3609975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11049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621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STUDENT ENROLLMENT BY LEVEL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962150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41127"/>
            <a:ext cx="5381625" cy="3575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641127"/>
            <a:ext cx="5381625" cy="35755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GENDER DISTRIBUTION ANALYSIS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5597723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Gender parity is maintained across both educational levels, with a near 50/50 split between male and female students.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7009" y="2831752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Primary Level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279427"/>
            <a:ext cx="46196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43M Total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04384" y="2831752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Secondary Level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19875" y="3279427"/>
            <a:ext cx="46196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31M Total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76562" y="210785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2609850" y="4026098"/>
            <a:ext cx="1304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Female: 21M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609850" y="4330898"/>
            <a:ext cx="1304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Male: 22M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43937" y="210785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277225" y="4026098"/>
            <a:ext cx="1304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Female: 15M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277225" y="4330898"/>
            <a:ext cx="13049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Male: 16M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09850" y="407848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09850" y="438328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77225" y="407848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77225" y="438328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STATE-LEVEL ENROLLMENT (TOP REGIONS)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1916459"/>
            <a:ext cx="11049000" cy="3314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9" name="Google Shape;149;p17"/>
          <p:cNvGraphicFramePr/>
          <p:nvPr/>
        </p:nvGraphicFramePr>
        <p:xfrm>
          <a:off x="571500" y="19164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{E4C5CE50-B3D6-470D-837F-809F83624BAD}</a:tableStyleId>
              </a:tblPr>
              <a:tblGrid>
                <a:gridCol w="222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State/Territory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Catholic Sector Students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Government Sector Students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Combined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14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New South Wales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4,999,573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15,274,957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20,274,530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Victoria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4,017,943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11,368,303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15,386,246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Queensland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2,805,465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10,345,697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13,151,162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South Australia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948,646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3,384,012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2424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4,332,658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0" name="Google Shape;150;p17"/>
          <p:cNvSpPr txBox="1"/>
          <p:nvPr/>
        </p:nvSpPr>
        <p:spPr>
          <a:xfrm>
            <a:off x="571500" y="5421659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*Figures derived from national school sector reported data.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3245197"/>
            <a:ext cx="2229742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2801242" y="3245197"/>
            <a:ext cx="3095029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896272" y="3245197"/>
            <a:ext cx="3583037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479309" y="3245197"/>
            <a:ext cx="2141190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3902422"/>
            <a:ext cx="2229742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801242" y="3902422"/>
            <a:ext cx="3095029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96272" y="3902422"/>
            <a:ext cx="3583037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479309" y="3902422"/>
            <a:ext cx="2141190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571500" y="4559647"/>
            <a:ext cx="2229742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801242" y="4559647"/>
            <a:ext cx="3095029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896272" y="4559647"/>
            <a:ext cx="3583037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9479309" y="4559647"/>
            <a:ext cx="2141190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571500" y="5216872"/>
            <a:ext cx="2229742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2801242" y="5216872"/>
            <a:ext cx="3095029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896272" y="5216872"/>
            <a:ext cx="3583037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9479309" y="5216872"/>
            <a:ext cx="2141190" cy="9525"/>
          </a:xfrm>
          <a:prstGeom prst="rect">
            <a:avLst/>
          </a:prstGeom>
          <a:solidFill>
            <a:srgbClr val="E1BE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11049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21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WORKFORCE ALLOCATION BY FUNCTION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62150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24712" y="160972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39087" y="23241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INCLUSIVITY: INDIGENOUS REPRESENTATION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71500" y="53244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Targeted educational programs and funding continue to focus on the 5.13% Indigenous student population to ensure equitable outcomes and cultural integration.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633537" y="2938462"/>
            <a:ext cx="3467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Non-Indigenous:</a:t>
            </a: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94.87% (69.64M)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633537" y="3386137"/>
            <a:ext cx="3467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Indigenous:</a:t>
            </a: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 5.13% (3.77M)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1633537" y="2938462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4A14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633537" y="3386137"/>
            <a:ext cx="228600" cy="228600"/>
          </a:xfrm>
          <a:prstGeom prst="roundRect">
            <a:avLst>
              <a:gd name="adj" fmla="val 16666"/>
            </a:avLst>
          </a:prstGeom>
          <a:solidFill>
            <a:srgbClr val="00BC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8396287" y="2938462"/>
            <a:ext cx="9906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4A148C"/>
                </a:solidFill>
                <a:latin typeface="Open Sans"/>
                <a:ea typeface="Open Sans"/>
                <a:cs typeface="Open Sans"/>
                <a:sym typeface="Open Sans"/>
              </a:rPr>
              <a:t>5.13%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491537" y="3405187"/>
            <a:ext cx="8001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Open Sans"/>
                <a:ea typeface="Open Sans"/>
                <a:cs typeface="Open Sans"/>
                <a:sym typeface="Open Sans"/>
              </a:rPr>
              <a:t>Indigenous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295275" y="290125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4A148C"/>
                </a:solidFill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412045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24242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 to the National School Data Overview.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499675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757575"/>
                </a:solidFill>
                <a:latin typeface="Open Sans"/>
                <a:ea typeface="Open Sans"/>
                <a:cs typeface="Open Sans"/>
                <a:sym typeface="Open Sans"/>
              </a:rPr>
              <a:t>Contact: data.admin@schoolboard.edu | www.schooldashboard.gov</a:t>
            </a:r>
            <a:endParaRPr/>
          </a:p>
        </p:txBody>
      </p:sp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605855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52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QSK1184</cp:lastModifiedBy>
  <cp:revision>1</cp:revision>
  <dcterms:modified xsi:type="dcterms:W3CDTF">2026-03-20T10:11:02Z</dcterms:modified>
</cp:coreProperties>
</file>